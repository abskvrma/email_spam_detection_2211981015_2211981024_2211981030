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4"/>
  </p:notesMasterIdLst>
  <p:sldIdLst>
    <p:sldId id="281" r:id="rId2"/>
    <p:sldId id="313" r:id="rId3"/>
    <p:sldId id="315" r:id="rId4"/>
    <p:sldId id="316" r:id="rId5"/>
    <p:sldId id="318" r:id="rId6"/>
    <p:sldId id="317" r:id="rId7"/>
    <p:sldId id="322" r:id="rId8"/>
    <p:sldId id="323" r:id="rId9"/>
    <p:sldId id="324" r:id="rId10"/>
    <p:sldId id="326" r:id="rId11"/>
    <p:sldId id="327" r:id="rId12"/>
    <p:sldId id="314" r:id="rId13"/>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33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BEBC1FE-0D27-420D-ACF3-3E7C33926969}" type="datetimeFigureOut">
              <a:rPr lang="en-IN" smtClean="0"/>
              <a:t>08-05-2026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0922932-FB73-4B31-94D5-4A7F88516CBD}" type="slidenum">
              <a:rPr lang="en-IN" smtClean="0"/>
              <a:t>‹#›</a:t>
            </a:fld>
            <a:endParaRPr lang="en-IN"/>
          </a:p>
        </p:txBody>
      </p:sp>
    </p:spTree>
    <p:extLst>
      <p:ext uri="{BB962C8B-B14F-4D97-AF65-F5344CB8AC3E}">
        <p14:creationId xmlns:p14="http://schemas.microsoft.com/office/powerpoint/2010/main" val="107774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922932-FB73-4B31-94D5-4A7F88516CBD}" type="slidenum">
              <a:rPr lang="en-IN" smtClean="0"/>
              <a:t>9</a:t>
            </a:fld>
            <a:endParaRPr lang="en-IN"/>
          </a:p>
        </p:txBody>
      </p:sp>
    </p:spTree>
    <p:extLst>
      <p:ext uri="{BB962C8B-B14F-4D97-AF65-F5344CB8AC3E}">
        <p14:creationId xmlns:p14="http://schemas.microsoft.com/office/powerpoint/2010/main" val="3346045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08-May-26</a:t>
            </a:fld>
            <a:endParaRPr lang="en-US"/>
          </a:p>
        </p:txBody>
      </p:sp>
      <p:sp>
        <p:nvSpPr>
          <p:cNvPr id="5" name="Footer Placeholder 4"/>
          <p:cNvSpPr>
            <a:spLocks noGrp="1"/>
          </p:cNvSpPr>
          <p:nvPr>
            <p:ph type="ftr" sz="quarter" idx="11"/>
          </p:nvPr>
        </p:nvSpPr>
        <p:spPr/>
        <p:txBody>
          <a:bodyPr/>
          <a:lstStyle>
            <a:lvl1pPr>
              <a:defRPr/>
            </a:lvl1pPr>
          </a:lstStyle>
          <a:p>
            <a:endParaRPr lang="en-IN"/>
          </a:p>
        </p:txBody>
      </p:sp>
      <p:sp>
        <p:nvSpPr>
          <p:cNvPr id="6"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14759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userDrawn="1"/>
        </p:nvGrpSpPr>
        <p:grpSpPr bwMode="auto">
          <a:xfrm>
            <a:off x="6552602" y="0"/>
            <a:ext cx="2134198" cy="876300"/>
            <a:chOff x="6477000" y="3924300"/>
            <a:chExt cx="2235200" cy="876300"/>
          </a:xfrm>
        </p:grpSpPr>
        <p:sp>
          <p:nvSpPr>
            <p:cNvPr id="6" name="Rectangle 11"/>
            <p:cNvSpPr>
              <a:spLocks noChangeArrowheads="1"/>
            </p:cNvSpPr>
            <p:nvPr/>
          </p:nvSpPr>
          <p:spPr bwMode="auto">
            <a:xfrm>
              <a:off x="6502400" y="3924300"/>
              <a:ext cx="22098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 name="Title 1"/>
          <p:cNvSpPr>
            <a:spLocks noGrp="1"/>
          </p:cNvSpPr>
          <p:nvPr>
            <p:ph type="title"/>
          </p:nvPr>
        </p:nvSpPr>
        <p:spPr>
          <a:xfrm>
            <a:off x="-1" y="0"/>
            <a:ext cx="6507541"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374784"/>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1D8BD707-D9CF-40AE-B4C6-C98DA3205C09}" type="datetimeFigureOut">
              <a:rPr lang="en-US" smtClean="0"/>
              <a:pPr/>
              <a:t>08-May-26</a:t>
            </a:fld>
            <a:endParaRPr lang="en-US"/>
          </a:p>
        </p:txBody>
      </p:sp>
      <p:sp>
        <p:nvSpPr>
          <p:cNvPr id="11" name="Footer Placeholder 4"/>
          <p:cNvSpPr>
            <a:spLocks noGrp="1"/>
          </p:cNvSpPr>
          <p:nvPr>
            <p:ph type="ftr" sz="quarter" idx="11"/>
          </p:nvPr>
        </p:nvSpPr>
        <p:spPr/>
        <p:txBody>
          <a:bodyPr/>
          <a:lstStyle>
            <a:lvl1pPr>
              <a:defRPr/>
            </a:lvl1pPr>
          </a:lstStyle>
          <a:p>
            <a:endParaRPr lang="en-IN"/>
          </a:p>
        </p:txBody>
      </p:sp>
      <p:sp>
        <p:nvSpPr>
          <p:cNvPr id="12"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pic>
        <p:nvPicPr>
          <p:cNvPr id="13" name="Picture 12">
            <a:extLst>
              <a:ext uri="{FF2B5EF4-FFF2-40B4-BE49-F238E27FC236}">
                <a16:creationId xmlns:a16="http://schemas.microsoft.com/office/drawing/2014/main" id="{293B4335-2E7A-5CEC-C0E8-EFDCD91AFC94}"/>
              </a:ext>
            </a:extLst>
          </p:cNvPr>
          <p:cNvPicPr>
            <a:picLocks noChangeAspect="1"/>
          </p:cNvPicPr>
          <p:nvPr userDrawn="1"/>
        </p:nvPicPr>
        <p:blipFill>
          <a:blip r:embed="rId3" cstate="print"/>
          <a:stretch>
            <a:fillRect/>
          </a:stretch>
        </p:blipFill>
        <p:spPr>
          <a:xfrm>
            <a:off x="6588720" y="201617"/>
            <a:ext cx="1828800" cy="923925"/>
          </a:xfrm>
          <a:prstGeom prst="rect">
            <a:avLst/>
          </a:prstGeom>
        </p:spPr>
      </p:pic>
    </p:spTree>
    <p:extLst>
      <p:ext uri="{BB962C8B-B14F-4D97-AF65-F5344CB8AC3E}">
        <p14:creationId xmlns:p14="http://schemas.microsoft.com/office/powerpoint/2010/main" val="527929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1D8BD707-D9CF-40AE-B4C6-C98DA3205C09}" type="datetimeFigureOut">
              <a:rPr lang="en-US" smtClean="0"/>
              <a:pPr/>
              <a:t>08-May-26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marL="38100">
              <a:lnSpc>
                <a:spcPts val="1630"/>
              </a:lnSpc>
            </a:pPr>
            <a:fld id="{81D60167-4931-47E6-BA6A-407CBD079E47}" type="slidenum">
              <a:rPr lang="en-IN" smtClean="0"/>
              <a:pPr marL="38100">
                <a:lnSpc>
                  <a:spcPts val="1630"/>
                </a:lnSpc>
              </a:pPr>
              <a:t>‹#›</a:t>
            </a:fld>
            <a:endParaRPr lang="en-IN"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2" name="Picture 1">
            <a:extLst>
              <a:ext uri="{FF2B5EF4-FFF2-40B4-BE49-F238E27FC236}">
                <a16:creationId xmlns:a16="http://schemas.microsoft.com/office/drawing/2014/main" id="{8E336C4E-A392-8729-E9AD-5C8843EB4C8A}"/>
              </a:ext>
            </a:extLst>
          </p:cNvPr>
          <p:cNvPicPr>
            <a:picLocks noChangeAspect="1"/>
          </p:cNvPicPr>
          <p:nvPr userDrawn="1"/>
        </p:nvPicPr>
        <p:blipFill>
          <a:blip r:embed="rId5" cstate="print"/>
          <a:stretch>
            <a:fillRect/>
          </a:stretch>
        </p:blipFill>
        <p:spPr>
          <a:xfrm>
            <a:off x="6629400" y="201617"/>
            <a:ext cx="1828800" cy="923925"/>
          </a:xfrm>
          <a:prstGeom prst="rect">
            <a:avLst/>
          </a:prstGeom>
        </p:spPr>
      </p:pic>
    </p:spTree>
    <p:extLst>
      <p:ext uri="{BB962C8B-B14F-4D97-AF65-F5344CB8AC3E}">
        <p14:creationId xmlns:p14="http://schemas.microsoft.com/office/powerpoint/2010/main" val="2688698933"/>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72E63F-589D-8B42-99FD-D388EA2B82A4}"/>
              </a:ext>
            </a:extLst>
          </p:cNvPr>
          <p:cNvSpPr txBox="1"/>
          <p:nvPr/>
        </p:nvSpPr>
        <p:spPr>
          <a:xfrm>
            <a:off x="381000" y="1295400"/>
            <a:ext cx="8382000" cy="5523306"/>
          </a:xfrm>
          <a:prstGeom prst="rect">
            <a:avLst/>
          </a:prstGeom>
        </p:spPr>
        <p:txBody>
          <a:bodyPr vert="horz" wrap="square" lIns="0" tIns="52069" rIns="0" bIns="0" rtlCol="0">
            <a:spAutoFit/>
          </a:bodyPr>
          <a:lstStyle/>
          <a:p>
            <a:pPr marR="8255" algn="ctr">
              <a:lnSpc>
                <a:spcPct val="100000"/>
              </a:lnSpc>
              <a:spcBef>
                <a:spcPts val="330"/>
              </a:spcBef>
            </a:pPr>
            <a:r>
              <a:rPr lang="en-IN" b="1" dirty="0">
                <a:latin typeface="Times New Roman" panose="02020603050405020304" pitchFamily="18" charset="0"/>
                <a:cs typeface="Times New Roman" panose="02020603050405020304" pitchFamily="18" charset="0"/>
              </a:rPr>
              <a:t>Project Presentation of Industry Oriented Hands on Experience (22CS422)</a:t>
            </a:r>
          </a:p>
          <a:p>
            <a:pPr marR="8255" algn="ctr">
              <a:lnSpc>
                <a:spcPct val="100000"/>
              </a:lnSpc>
              <a:spcBef>
                <a:spcPts val="330"/>
              </a:spcBef>
            </a:pPr>
            <a:r>
              <a:rPr lang="en-IN" dirty="0">
                <a:latin typeface="Times New Roman" panose="02020603050405020304" pitchFamily="18" charset="0"/>
                <a:cs typeface="Times New Roman" panose="02020603050405020304" pitchFamily="18" charset="0"/>
              </a:rPr>
              <a:t>On</a:t>
            </a:r>
          </a:p>
          <a:p>
            <a:pPr marR="8255" algn="ctr">
              <a:lnSpc>
                <a:spcPct val="100000"/>
              </a:lnSpc>
              <a:spcBef>
                <a:spcPts val="330"/>
              </a:spcBef>
            </a:pPr>
            <a:r>
              <a:rPr lang="en-US" sz="2400" b="1" dirty="0">
                <a:latin typeface="Times New Roman" panose="02020603050405020304" pitchFamily="18" charset="0"/>
                <a:cs typeface="Times New Roman" panose="02020603050405020304" pitchFamily="18" charset="0"/>
              </a:rPr>
              <a:t>Comparative Analysis of Deep Learning and Machine Learning for Email Spam Detection</a:t>
            </a:r>
          </a:p>
          <a:p>
            <a:pPr marR="8255" algn="ctr">
              <a:lnSpc>
                <a:spcPct val="100000"/>
              </a:lnSpc>
              <a:spcBef>
                <a:spcPts val="330"/>
              </a:spcBef>
            </a:pPr>
            <a:endParaRPr lang="en-US" b="1" dirty="0">
              <a:latin typeface="Times New Roman" panose="02020603050405020304" pitchFamily="18" charset="0"/>
              <a:cs typeface="Times New Roman" panose="02020603050405020304" pitchFamily="18" charset="0"/>
            </a:endParaRPr>
          </a:p>
          <a:p>
            <a:pPr marR="8255" algn="ctr">
              <a:lnSpc>
                <a:spcPct val="100000"/>
              </a:lnSpc>
              <a:spcBef>
                <a:spcPts val="330"/>
              </a:spcBef>
            </a:pPr>
            <a:endParaRPr lang="en-US" b="1" dirty="0">
              <a:latin typeface="Times New Roman" panose="02020603050405020304" pitchFamily="18" charset="0"/>
              <a:cs typeface="Times New Roman" panose="02020603050405020304" pitchFamily="18" charset="0"/>
            </a:endParaRPr>
          </a:p>
          <a:p>
            <a:pPr marR="8255">
              <a:lnSpc>
                <a:spcPct val="100000"/>
              </a:lnSpc>
              <a:spcBef>
                <a:spcPts val="330"/>
              </a:spcBef>
            </a:pPr>
            <a:r>
              <a:rPr lang="en-US" b="1" dirty="0">
                <a:latin typeface="Times New Roman" panose="02020603050405020304" pitchFamily="18" charset="0"/>
                <a:cs typeface="Times New Roman" panose="02020603050405020304" pitchFamily="18" charset="0"/>
              </a:rPr>
              <a:t>Presented By:</a:t>
            </a:r>
          </a:p>
          <a:p>
            <a:pPr marL="342900" marR="8255" indent="-342900">
              <a:lnSpc>
                <a:spcPct val="100000"/>
              </a:lnSpc>
              <a:spcBef>
                <a:spcPts val="330"/>
              </a:spcBef>
              <a:buAutoNum type="arabicPeriod"/>
            </a:pPr>
            <a:r>
              <a:rPr lang="en-US" dirty="0">
                <a:latin typeface="Times New Roman" panose="02020603050405020304" pitchFamily="18" charset="0"/>
                <a:cs typeface="Times New Roman" panose="02020603050405020304" pitchFamily="18" charset="0"/>
              </a:rPr>
              <a:t>Abhishek Verma – 2211981015</a:t>
            </a:r>
          </a:p>
          <a:p>
            <a:pPr marL="342900" marR="8255" indent="-342900">
              <a:lnSpc>
                <a:spcPct val="100000"/>
              </a:lnSpc>
              <a:spcBef>
                <a:spcPts val="330"/>
              </a:spcBef>
              <a:buAutoNum type="arabicPeriod"/>
            </a:pPr>
            <a:r>
              <a:rPr lang="en-US" dirty="0">
                <a:latin typeface="Times New Roman" panose="02020603050405020304" pitchFamily="18" charset="0"/>
                <a:cs typeface="Times New Roman" panose="02020603050405020304" pitchFamily="18" charset="0"/>
              </a:rPr>
              <a:t>Aditya Mishra –     2211981024</a:t>
            </a:r>
          </a:p>
          <a:p>
            <a:pPr marL="342900" marR="8255" indent="-342900">
              <a:lnSpc>
                <a:spcPct val="100000"/>
              </a:lnSpc>
              <a:spcBef>
                <a:spcPts val="330"/>
              </a:spcBef>
              <a:buAutoNum type="arabicPeriod"/>
            </a:pPr>
            <a:r>
              <a:rPr lang="en-US" dirty="0">
                <a:latin typeface="Times New Roman" panose="02020603050405020304" pitchFamily="18" charset="0"/>
                <a:cs typeface="Times New Roman" panose="02020603050405020304" pitchFamily="18" charset="0"/>
              </a:rPr>
              <a:t>Aditya Singh –       2211981030</a:t>
            </a:r>
          </a:p>
          <a:p>
            <a:pPr marL="342900" marR="8255" indent="-342900">
              <a:lnSpc>
                <a:spcPct val="100000"/>
              </a:lnSpc>
              <a:spcBef>
                <a:spcPts val="330"/>
              </a:spcBef>
              <a:buAutoNum type="arabicPeriod"/>
            </a:pPr>
            <a:endParaRPr lang="en-US" dirty="0">
              <a:latin typeface="Times New Roman" panose="02020603050405020304" pitchFamily="18" charset="0"/>
              <a:cs typeface="Times New Roman" panose="02020603050405020304" pitchFamily="18" charset="0"/>
            </a:endParaRPr>
          </a:p>
          <a:p>
            <a:pPr marR="8255">
              <a:lnSpc>
                <a:spcPct val="100000"/>
              </a:lnSpc>
              <a:spcBef>
                <a:spcPts val="330"/>
              </a:spcBef>
            </a:pPr>
            <a:r>
              <a:rPr lang="en-US" b="1" dirty="0">
                <a:latin typeface="Times New Roman" panose="02020603050405020304" pitchFamily="18" charset="0"/>
                <a:cs typeface="Times New Roman" panose="02020603050405020304" pitchFamily="18" charset="0"/>
              </a:rPr>
              <a:t>Supervised By:</a:t>
            </a:r>
          </a:p>
          <a:p>
            <a:pPr marR="8255">
              <a:lnSpc>
                <a:spcPct val="100000"/>
              </a:lnSpc>
              <a:spcBef>
                <a:spcPts val="330"/>
              </a:spcBef>
            </a:pPr>
            <a:r>
              <a:rPr lang="en-US" dirty="0">
                <a:latin typeface="Times New Roman" panose="02020603050405020304" pitchFamily="18" charset="0"/>
                <a:cs typeface="Times New Roman" panose="02020603050405020304" pitchFamily="18" charset="0"/>
              </a:rPr>
              <a:t>Dr. Monika Aggarwal</a:t>
            </a:r>
          </a:p>
          <a:p>
            <a:pPr marR="8255">
              <a:lnSpc>
                <a:spcPct val="100000"/>
              </a:lnSpc>
              <a:spcBef>
                <a:spcPts val="330"/>
              </a:spcBef>
            </a:pPr>
            <a:endParaRPr lang="en-US" dirty="0">
              <a:latin typeface="Times New Roman" panose="02020603050405020304" pitchFamily="18" charset="0"/>
              <a:cs typeface="Times New Roman" panose="02020603050405020304" pitchFamily="18" charset="0"/>
            </a:endParaRPr>
          </a:p>
          <a:p>
            <a:pPr marR="8255" algn="ctr">
              <a:lnSpc>
                <a:spcPct val="100000"/>
              </a:lnSpc>
              <a:spcBef>
                <a:spcPts val="330"/>
              </a:spcBef>
            </a:pPr>
            <a:r>
              <a:rPr lang="en-US" dirty="0">
                <a:latin typeface="Times New Roman" panose="02020603050405020304" pitchFamily="18" charset="0"/>
                <a:cs typeface="Times New Roman" panose="02020603050405020304" pitchFamily="18" charset="0"/>
              </a:rPr>
              <a:t>Department of Computer Science and Engineering,</a:t>
            </a:r>
          </a:p>
          <a:p>
            <a:pPr marR="8255" algn="ctr">
              <a:lnSpc>
                <a:spcPct val="100000"/>
              </a:lnSpc>
              <a:spcBef>
                <a:spcPts val="330"/>
              </a:spcBef>
            </a:pPr>
            <a:r>
              <a:rPr lang="en-US" dirty="0">
                <a:latin typeface="Times New Roman" panose="02020603050405020304" pitchFamily="18" charset="0"/>
                <a:cs typeface="Times New Roman" panose="02020603050405020304" pitchFamily="18" charset="0"/>
              </a:rPr>
              <a:t>Chitkara University, Punjab</a:t>
            </a:r>
          </a:p>
          <a:p>
            <a:pPr marR="8255" algn="ctr">
              <a:lnSpc>
                <a:spcPct val="100000"/>
              </a:lnSpc>
              <a:spcBef>
                <a:spcPts val="330"/>
              </a:spcBef>
            </a:pPr>
            <a:endParaRPr lang="en-IN" b="1" dirty="0">
              <a:latin typeface="Times New Roman" panose="02020603050405020304" pitchFamily="18" charset="0"/>
              <a:cs typeface="Times New Roman" panose="02020603050405020304" pitchFamily="18" charset="0"/>
            </a:endParaRPr>
          </a:p>
        </p:txBody>
      </p:sp>
      <p:sp>
        <p:nvSpPr>
          <p:cNvPr id="6" name="object 4">
            <a:extLst>
              <a:ext uri="{FF2B5EF4-FFF2-40B4-BE49-F238E27FC236}">
                <a16:creationId xmlns:a16="http://schemas.microsoft.com/office/drawing/2014/main" id="{E4690CBE-8CEE-F5EE-CA89-DCBB31B742DE}"/>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a:t>
            </a:fld>
            <a:endParaRPr dirty="0"/>
          </a:p>
        </p:txBody>
      </p:sp>
    </p:spTree>
    <p:extLst>
      <p:ext uri="{BB962C8B-B14F-4D97-AF65-F5344CB8AC3E}">
        <p14:creationId xmlns:p14="http://schemas.microsoft.com/office/powerpoint/2010/main" val="136610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5E98-559D-0B30-1BB5-3C3416B3C887}"/>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Introduction</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700A92-C317-8104-6A6E-8031D6C9094F}"/>
              </a:ext>
            </a:extLst>
          </p:cNvPr>
          <p:cNvSpPr>
            <a:spLocks noGrp="1"/>
          </p:cNvSpPr>
          <p:nvPr>
            <p:ph idx="1"/>
          </p:nvPr>
        </p:nvSpPr>
        <p:spPr>
          <a:xfrm>
            <a:off x="457200" y="1374784"/>
            <a:ext cx="8229600" cy="5026016"/>
          </a:xfrm>
        </p:spPr>
        <p:txBody>
          <a:bodyPr/>
          <a:lstStyle/>
          <a:p>
            <a:pPr marL="285750" lvl="0" indent="-285750" algn="just">
              <a:spcBef>
                <a:spcPts val="0"/>
              </a:spcBef>
            </a:pPr>
            <a:r>
              <a:rPr lang="en-US" sz="1800" dirty="0">
                <a:latin typeface="Times New Roman" panose="02020603050405020304" pitchFamily="18" charset="0"/>
                <a:cs typeface="Times New Roman" panose="02020603050405020304" pitchFamily="18" charset="0"/>
              </a:rPr>
              <a:t>In today's digital world, email is a widely used communication tool in business, education, and personal interactions.</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However, spam emails (junk or unwanted emails) pose a serious problem, often used for phishing, malware distribution, and fraud.</a:t>
            </a:r>
          </a:p>
          <a:p>
            <a:pPr marL="0" lvl="0" indent="0" algn="just">
              <a:spcBef>
                <a:spcPts val="0"/>
              </a:spcBef>
            </a:pPr>
            <a:r>
              <a:rPr lang="en-US" sz="1800" dirty="0">
                <a:latin typeface="Times New Roman" panose="02020603050405020304" pitchFamily="18" charset="0"/>
                <a:cs typeface="Times New Roman" panose="02020603050405020304" pitchFamily="18" charset="0"/>
              </a:rPr>
              <a:t> </a:t>
            </a: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Spam emails account for over 77% of global email traffic, leading to security risks and financial losses.</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Traditional spam detection methods rely on rule-based filtering, which is often ineffective against evolving spam techniques.</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Machine learning (ML) models, such as Naïve Bayes, Decision Trees, and Neural Networks, have proven effective in detecting spam with higher accuracy.</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This research explores and compares different deep learning approaches to improve spam email detection accuracy and efficiency.</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13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4BC4-15D5-5114-EDD3-2C1A325A480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7006BF0C-19A8-0536-7DF2-F471FDC928F6}"/>
              </a:ext>
            </a:extLst>
          </p:cNvPr>
          <p:cNvSpPr>
            <a:spLocks noGrp="1"/>
          </p:cNvSpPr>
          <p:nvPr>
            <p:ph idx="1"/>
          </p:nvPr>
        </p:nvSpPr>
        <p:spPr>
          <a:xfrm>
            <a:off x="228600" y="1088226"/>
            <a:ext cx="8229600" cy="4681547"/>
          </a:xfrm>
        </p:spPr>
        <p:txBody>
          <a:bodyPr/>
          <a:lstStyle/>
          <a:p>
            <a:pPr marL="0" indent="0">
              <a:buNone/>
            </a:pPr>
            <a:r>
              <a:rPr lang="en-US" sz="2400" b="1" dirty="0">
                <a:latin typeface="Times New Roman" panose="02020603050405020304" pitchFamily="18" charset="0"/>
                <a:cs typeface="Times New Roman" panose="02020603050405020304" pitchFamily="18" charset="0"/>
              </a:rPr>
              <a:t>Main Goal of the Project</a:t>
            </a:r>
          </a:p>
          <a:p>
            <a:pPr algn="just"/>
            <a:r>
              <a:rPr lang="en-US" sz="1800" dirty="0">
                <a:latin typeface="Times New Roman" panose="02020603050405020304" pitchFamily="18" charset="0"/>
                <a:cs typeface="Times New Roman" panose="02020603050405020304" pitchFamily="18" charset="0"/>
              </a:rPr>
              <a:t>The goal of this project is to develop and compare deep learning models for accurate spam detection using SMS data. The study aims to identify effective architectures that can distinguish spam from legitimate messages, improving communication security and user trust.</a:t>
            </a:r>
          </a:p>
          <a:p>
            <a:pPr marL="0" indent="0">
              <a:buNone/>
            </a:pPr>
            <a:r>
              <a:rPr lang="en-US" sz="2400" b="1" dirty="0">
                <a:latin typeface="Times New Roman" panose="02020603050405020304" pitchFamily="18" charset="0"/>
                <a:cs typeface="Times New Roman" panose="02020603050405020304" pitchFamily="18" charset="0"/>
              </a:rPr>
              <a:t>Key Objectives</a:t>
            </a:r>
          </a:p>
          <a:p>
            <a:pPr algn="just"/>
            <a:r>
              <a:rPr lang="en-US" sz="1800" b="1" dirty="0">
                <a:latin typeface="Times New Roman" panose="02020603050405020304" pitchFamily="18" charset="0"/>
                <a:cs typeface="Times New Roman" panose="02020603050405020304" pitchFamily="18" charset="0"/>
              </a:rPr>
              <a:t>Develop models</a:t>
            </a:r>
            <a:r>
              <a:rPr lang="en-US" sz="1800" dirty="0">
                <a:latin typeface="Times New Roman" panose="02020603050405020304" pitchFamily="18" charset="0"/>
                <a:cs typeface="Times New Roman" panose="02020603050405020304" pitchFamily="18" charset="0"/>
              </a:rPr>
              <a:t>: Implement CNN, LSTM, and Transformer-based architectures for spam classification.</a:t>
            </a:r>
          </a:p>
          <a:p>
            <a:pPr algn="just"/>
            <a:r>
              <a:rPr lang="en-US" sz="1800" b="1" dirty="0">
                <a:latin typeface="Times New Roman" panose="02020603050405020304" pitchFamily="18" charset="0"/>
                <a:cs typeface="Times New Roman" panose="02020603050405020304" pitchFamily="18" charset="0"/>
              </a:rPr>
              <a:t>Train on dataset</a:t>
            </a:r>
            <a:r>
              <a:rPr lang="en-US" sz="1800" dirty="0">
                <a:latin typeface="Times New Roman" panose="02020603050405020304" pitchFamily="18" charset="0"/>
                <a:cs typeface="Times New Roman" panose="02020603050405020304" pitchFamily="18" charset="0"/>
              </a:rPr>
              <a:t>: Use a labeled SMS spam dataset of 4,789 messages to learn spam vs. ham patterns.</a:t>
            </a:r>
          </a:p>
          <a:p>
            <a:pPr algn="just"/>
            <a:r>
              <a:rPr lang="en-US" sz="1800" b="1" dirty="0">
                <a:latin typeface="Times New Roman" panose="02020603050405020304" pitchFamily="18" charset="0"/>
                <a:cs typeface="Times New Roman" panose="02020603050405020304" pitchFamily="18" charset="0"/>
              </a:rPr>
              <a:t>Compare approaches</a:t>
            </a:r>
            <a:r>
              <a:rPr lang="en-US" sz="1800" dirty="0">
                <a:latin typeface="Times New Roman" panose="02020603050405020304" pitchFamily="18" charset="0"/>
                <a:cs typeface="Times New Roman" panose="02020603050405020304" pitchFamily="18" charset="0"/>
              </a:rPr>
              <a:t>: Analyze performance across models in terms of accuracy, efficiency, and generalization.</a:t>
            </a:r>
          </a:p>
          <a:p>
            <a:pPr algn="just"/>
            <a:r>
              <a:rPr lang="en-US" sz="1800" b="1" dirty="0">
                <a:latin typeface="Times New Roman" panose="02020603050405020304" pitchFamily="18" charset="0"/>
                <a:cs typeface="Times New Roman" panose="02020603050405020304" pitchFamily="18" charset="0"/>
              </a:rPr>
              <a:t>Evaluate results</a:t>
            </a:r>
            <a:r>
              <a:rPr lang="en-US" sz="1800" dirty="0">
                <a:latin typeface="Times New Roman" panose="02020603050405020304" pitchFamily="18" charset="0"/>
                <a:cs typeface="Times New Roman" panose="02020603050405020304" pitchFamily="18" charset="0"/>
              </a:rPr>
              <a:t>: Use accuracy, precision, recall, and F1-score to measure reliability.</a:t>
            </a:r>
          </a:p>
        </p:txBody>
      </p:sp>
    </p:spTree>
    <p:extLst>
      <p:ext uri="{BB962C8B-B14F-4D97-AF65-F5344CB8AC3E}">
        <p14:creationId xmlns:p14="http://schemas.microsoft.com/office/powerpoint/2010/main" val="2526852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51031-4B78-B174-3817-54EC589EB957}"/>
              </a:ext>
            </a:extLst>
          </p:cNvPr>
          <p:cNvSpPr>
            <a:spLocks noGrp="1"/>
          </p:cNvSpPr>
          <p:nvPr>
            <p:ph type="title"/>
          </p:nvPr>
        </p:nvSpPr>
        <p:spPr>
          <a:xfrm>
            <a:off x="-1" y="0"/>
            <a:ext cx="6507541" cy="723773"/>
          </a:xfrm>
        </p:spPr>
        <p:txBody>
          <a:bodyPr/>
          <a:lstStyle/>
          <a:p>
            <a:r>
              <a:rPr lang="en-US" sz="4000" b="1" dirty="0">
                <a:latin typeface="Times New Roman" panose="02020603050405020304" pitchFamily="18" charset="0"/>
                <a:cs typeface="Times New Roman" panose="02020603050405020304" pitchFamily="18" charset="0"/>
              </a:rPr>
              <a:t>Dataset Used</a:t>
            </a:r>
          </a:p>
        </p:txBody>
      </p:sp>
      <p:sp>
        <p:nvSpPr>
          <p:cNvPr id="4" name="Rectangle 1">
            <a:extLst>
              <a:ext uri="{FF2B5EF4-FFF2-40B4-BE49-F238E27FC236}">
                <a16:creationId xmlns:a16="http://schemas.microsoft.com/office/drawing/2014/main" id="{84B6583A-E355-8A01-F249-F6B74DD2790B}"/>
              </a:ext>
            </a:extLst>
          </p:cNvPr>
          <p:cNvSpPr>
            <a:spLocks noGrp="1" noChangeArrowheads="1"/>
          </p:cNvSpPr>
          <p:nvPr>
            <p:ph idx="1"/>
          </p:nvPr>
        </p:nvSpPr>
        <p:spPr bwMode="auto">
          <a:xfrm>
            <a:off x="410123" y="1269935"/>
            <a:ext cx="8581477" cy="494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b="1" dirty="0">
                <a:latin typeface="Times New Roman" panose="02020603050405020304" pitchFamily="18" charset="0"/>
                <a:cs typeface="Times New Roman" panose="02020603050405020304" pitchFamily="18" charset="0"/>
              </a:rPr>
              <a:t>Dataset Source</a:t>
            </a:r>
          </a:p>
          <a:p>
            <a:pPr algn="just"/>
            <a:r>
              <a:rPr lang="en-US" sz="1800" dirty="0">
                <a:latin typeface="Times New Roman" panose="02020603050405020304" pitchFamily="18" charset="0"/>
                <a:cs typeface="Times New Roman" panose="02020603050405020304" pitchFamily="18" charset="0"/>
              </a:rPr>
              <a:t>The dataset used in this study is the </a:t>
            </a:r>
            <a:r>
              <a:rPr lang="en-US" sz="1800" b="1" dirty="0">
                <a:latin typeface="Times New Roman" panose="02020603050405020304" pitchFamily="18" charset="0"/>
                <a:cs typeface="Times New Roman" panose="02020603050405020304" pitchFamily="18" charset="0"/>
              </a:rPr>
              <a:t>SMS Spam Collection Dataset</a:t>
            </a:r>
            <a:r>
              <a:rPr lang="en-US" sz="1800" dirty="0">
                <a:latin typeface="Times New Roman" panose="02020603050405020304" pitchFamily="18" charset="0"/>
                <a:cs typeface="Times New Roman" panose="02020603050405020304" pitchFamily="18" charset="0"/>
              </a:rPr>
              <a:t> from Kaggle, containing labeled SMS messages categorized as spam or ham.</a:t>
            </a:r>
          </a:p>
          <a:p>
            <a:endParaRPr lang="en-US" sz="18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Total Messages and Categories</a:t>
            </a:r>
          </a:p>
          <a:p>
            <a:pPr algn="just"/>
            <a:r>
              <a:rPr lang="en-US" sz="1800" dirty="0">
                <a:latin typeface="Times New Roman" panose="02020603050405020304" pitchFamily="18" charset="0"/>
                <a:cs typeface="Times New Roman" panose="02020603050405020304" pitchFamily="18" charset="0"/>
              </a:rPr>
              <a:t>The dataset includes </a:t>
            </a:r>
            <a:r>
              <a:rPr lang="en-US" sz="1800" b="1" dirty="0">
                <a:latin typeface="Times New Roman" panose="02020603050405020304" pitchFamily="18" charset="0"/>
                <a:cs typeface="Times New Roman" panose="02020603050405020304" pitchFamily="18" charset="0"/>
              </a:rPr>
              <a:t>4,789 messages</a:t>
            </a:r>
            <a:r>
              <a:rPr lang="en-US" sz="1800" dirty="0">
                <a:latin typeface="Times New Roman" panose="02020603050405020304" pitchFamily="18" charset="0"/>
                <a:cs typeface="Times New Roman" panose="02020603050405020304" pitchFamily="18" charset="0"/>
              </a:rPr>
              <a:t> divided into two classes:</a:t>
            </a:r>
          </a:p>
          <a:p>
            <a:pPr algn="just"/>
            <a:r>
              <a:rPr lang="en-US" sz="1800" b="1" dirty="0">
                <a:latin typeface="Times New Roman" panose="02020603050405020304" pitchFamily="18" charset="0"/>
                <a:cs typeface="Times New Roman" panose="02020603050405020304" pitchFamily="18" charset="0"/>
              </a:rPr>
              <a:t>Spam</a:t>
            </a:r>
            <a:r>
              <a:rPr lang="en-US" sz="1800" dirty="0">
                <a:latin typeface="Times New Roman" panose="02020603050405020304" pitchFamily="18" charset="0"/>
                <a:cs typeface="Times New Roman" panose="02020603050405020304" pitchFamily="18" charset="0"/>
              </a:rPr>
              <a:t>: Unwanted or fraudulent messages</a:t>
            </a:r>
          </a:p>
          <a:p>
            <a:pPr algn="just"/>
            <a:r>
              <a:rPr lang="en-US" sz="1800" b="1" dirty="0">
                <a:latin typeface="Times New Roman" panose="02020603050405020304" pitchFamily="18" charset="0"/>
                <a:cs typeface="Times New Roman" panose="02020603050405020304" pitchFamily="18" charset="0"/>
              </a:rPr>
              <a:t>Ham</a:t>
            </a:r>
            <a:r>
              <a:rPr lang="en-US" sz="1800" dirty="0">
                <a:latin typeface="Times New Roman" panose="02020603050405020304" pitchFamily="18" charset="0"/>
                <a:cs typeface="Times New Roman" panose="02020603050405020304" pitchFamily="18" charset="0"/>
              </a:rPr>
              <a:t>: Legitimate messages</a:t>
            </a:r>
          </a:p>
          <a:p>
            <a:endParaRPr lang="en-US" sz="18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Preprocessing Techniques</a:t>
            </a:r>
          </a:p>
          <a:p>
            <a:pPr algn="just"/>
            <a:r>
              <a:rPr lang="en-US" sz="1800" dirty="0">
                <a:latin typeface="Times New Roman" panose="02020603050405020304" pitchFamily="18" charset="0"/>
                <a:cs typeface="Times New Roman" panose="02020603050405020304" pitchFamily="18" charset="0"/>
              </a:rPr>
              <a:t>Cleaning text (removing special characters and numbers)</a:t>
            </a:r>
          </a:p>
          <a:p>
            <a:pPr algn="just"/>
            <a:r>
              <a:rPr lang="en-US" sz="1800" dirty="0">
                <a:latin typeface="Times New Roman" panose="02020603050405020304" pitchFamily="18" charset="0"/>
                <a:cs typeface="Times New Roman" panose="02020603050405020304" pitchFamily="18" charset="0"/>
              </a:rPr>
              <a:t>Tokenization and </a:t>
            </a:r>
            <a:r>
              <a:rPr lang="en-US" sz="1800" dirty="0" err="1">
                <a:latin typeface="Times New Roman" panose="02020603050405020304" pitchFamily="18" charset="0"/>
                <a:cs typeface="Times New Roman" panose="02020603050405020304" pitchFamily="18" charset="0"/>
              </a:rPr>
              <a:t>stopword</a:t>
            </a:r>
            <a:r>
              <a:rPr lang="en-US" sz="1800" dirty="0">
                <a:latin typeface="Times New Roman" panose="02020603050405020304" pitchFamily="18" charset="0"/>
                <a:cs typeface="Times New Roman" panose="02020603050405020304" pitchFamily="18" charset="0"/>
              </a:rPr>
              <a:t> removal</a:t>
            </a:r>
          </a:p>
          <a:p>
            <a:pPr algn="just"/>
            <a:r>
              <a:rPr lang="en-US" sz="1800" dirty="0">
                <a:latin typeface="Times New Roman" panose="02020603050405020304" pitchFamily="18" charset="0"/>
                <a:cs typeface="Times New Roman" panose="02020603050405020304" pitchFamily="18" charset="0"/>
              </a:rPr>
              <a:t>Stemming/Lemmatization</a:t>
            </a:r>
          </a:p>
          <a:p>
            <a:pPr algn="just"/>
            <a:r>
              <a:rPr lang="en-US" sz="1800" dirty="0">
                <a:latin typeface="Times New Roman" panose="02020603050405020304" pitchFamily="18" charset="0"/>
                <a:cs typeface="Times New Roman" panose="02020603050405020304" pitchFamily="18" charset="0"/>
              </a:rPr>
              <a:t>Vectorization (TF-IDF or word embeddings)</a:t>
            </a:r>
          </a:p>
        </p:txBody>
      </p:sp>
    </p:spTree>
    <p:extLst>
      <p:ext uri="{BB962C8B-B14F-4D97-AF65-F5344CB8AC3E}">
        <p14:creationId xmlns:p14="http://schemas.microsoft.com/office/powerpoint/2010/main" val="231567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185B-A0E9-CA8D-48F2-6C41898EB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47373-ADFF-F51F-3D3E-9E0322B49E24}"/>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Mid –term progress</a:t>
            </a:r>
          </a:p>
        </p:txBody>
      </p:sp>
      <p:sp>
        <p:nvSpPr>
          <p:cNvPr id="3" name="Content Placeholder 2">
            <a:extLst>
              <a:ext uri="{FF2B5EF4-FFF2-40B4-BE49-F238E27FC236}">
                <a16:creationId xmlns:a16="http://schemas.microsoft.com/office/drawing/2014/main" id="{891F6B76-E749-931C-3E6D-18C759A6F446}"/>
              </a:ext>
            </a:extLst>
          </p:cNvPr>
          <p:cNvSpPr>
            <a:spLocks noGrp="1"/>
          </p:cNvSpPr>
          <p:nvPr>
            <p:ph idx="1"/>
          </p:nvPr>
        </p:nvSpPr>
        <p:spPr>
          <a:xfrm>
            <a:off x="457200" y="1374784"/>
            <a:ext cx="8229600" cy="4873616"/>
          </a:xfrm>
        </p:spPr>
        <p:txBody>
          <a:bodyPr/>
          <a:lstStyle/>
          <a:p>
            <a:pPr marL="0" indent="0">
              <a:buNone/>
            </a:pPr>
            <a:r>
              <a:rPr lang="en-US" b="1" dirty="0">
                <a:latin typeface="Times New Roman" panose="02020603050405020304" pitchFamily="18" charset="0"/>
                <a:cs typeface="Times New Roman" panose="02020603050405020304" pitchFamily="18" charset="0"/>
              </a:rPr>
              <a:t>What Has Been Completed?</a:t>
            </a:r>
          </a:p>
          <a:p>
            <a:pPr algn="just"/>
            <a:r>
              <a:rPr lang="en-US" sz="2400" b="1" dirty="0">
                <a:latin typeface="Times New Roman" panose="02020603050405020304" pitchFamily="18" charset="0"/>
                <a:cs typeface="Times New Roman" panose="02020603050405020304" pitchFamily="18" charset="0"/>
              </a:rPr>
              <a:t>Dataset Collection and Preprocessing</a:t>
            </a:r>
            <a:endParaRPr lang="en-US" sz="24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dataset of </a:t>
            </a:r>
            <a:r>
              <a:rPr lang="en-US" sz="2000" b="1" dirty="0">
                <a:latin typeface="Times New Roman" panose="02020603050405020304" pitchFamily="18" charset="0"/>
                <a:cs typeface="Times New Roman" panose="02020603050405020304" pitchFamily="18" charset="0"/>
              </a:rPr>
              <a:t>4,789 SMS messages</a:t>
            </a:r>
            <a:r>
              <a:rPr lang="en-US" sz="2000" dirty="0">
                <a:latin typeface="Times New Roman" panose="02020603050405020304" pitchFamily="18" charset="0"/>
                <a:cs typeface="Times New Roman" panose="02020603050405020304" pitchFamily="18" charset="0"/>
              </a:rPr>
              <a:t> has been collected, containing spam and ham classes.</a:t>
            </a:r>
          </a:p>
          <a:p>
            <a:pPr algn="just"/>
            <a:r>
              <a:rPr lang="en-US" sz="2000" dirty="0">
                <a:latin typeface="Times New Roman" panose="02020603050405020304" pitchFamily="18" charset="0"/>
                <a:cs typeface="Times New Roman" panose="02020603050405020304" pitchFamily="18" charset="0"/>
              </a:rPr>
              <a:t>Preprocessing steps such as text cleaning, tokenization, </a:t>
            </a:r>
            <a:r>
              <a:rPr lang="en-US" sz="2000" dirty="0" err="1">
                <a:latin typeface="Times New Roman" panose="02020603050405020304" pitchFamily="18" charset="0"/>
                <a:cs typeface="Times New Roman" panose="02020603050405020304" pitchFamily="18" charset="0"/>
              </a:rPr>
              <a:t>stopword</a:t>
            </a:r>
            <a:r>
              <a:rPr lang="en-US" sz="2000" dirty="0">
                <a:latin typeface="Times New Roman" panose="02020603050405020304" pitchFamily="18" charset="0"/>
                <a:cs typeface="Times New Roman" panose="02020603050405020304" pitchFamily="18" charset="0"/>
              </a:rPr>
              <a:t> removal, and vectorization have been applied.</a:t>
            </a:r>
          </a:p>
          <a:p>
            <a:endParaRPr lang="en-US" sz="24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Model Selection and Initial Training</a:t>
            </a:r>
            <a:endParaRPr lang="en-US"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Deep learning models including </a:t>
            </a:r>
            <a:r>
              <a:rPr lang="en-US" sz="2000" b="1" dirty="0">
                <a:latin typeface="Times New Roman" panose="02020603050405020304" pitchFamily="18" charset="0"/>
                <a:cs typeface="Times New Roman" panose="02020603050405020304" pitchFamily="18" charset="0"/>
              </a:rPr>
              <a:t>CNN, LSTM, and Transformer-based architectures</a:t>
            </a:r>
            <a:r>
              <a:rPr lang="en-US" sz="2000" dirty="0">
                <a:latin typeface="Times New Roman" panose="02020603050405020304" pitchFamily="18" charset="0"/>
                <a:cs typeface="Times New Roman" panose="02020603050405020304" pitchFamily="18" charset="0"/>
              </a:rPr>
              <a:t> have been selected for classification.</a:t>
            </a:r>
          </a:p>
        </p:txBody>
      </p:sp>
    </p:spTree>
    <p:extLst>
      <p:ext uri="{BB962C8B-B14F-4D97-AF65-F5344CB8AC3E}">
        <p14:creationId xmlns:p14="http://schemas.microsoft.com/office/powerpoint/2010/main" val="996395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5AFFE-EE10-7ABA-6FFE-B61937709F58}"/>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Architecture</a:t>
            </a:r>
          </a:p>
        </p:txBody>
      </p:sp>
      <p:sp>
        <p:nvSpPr>
          <p:cNvPr id="3" name="Content Placeholder 2">
            <a:extLst>
              <a:ext uri="{FF2B5EF4-FFF2-40B4-BE49-F238E27FC236}">
                <a16:creationId xmlns:a16="http://schemas.microsoft.com/office/drawing/2014/main" id="{F720725A-9959-D795-1711-741614D0E1BD}"/>
              </a:ext>
            </a:extLst>
          </p:cNvPr>
          <p:cNvSpPr>
            <a:spLocks noGrp="1"/>
          </p:cNvSpPr>
          <p:nvPr>
            <p:ph idx="1"/>
          </p:nvPr>
        </p:nvSpPr>
        <p:spPr>
          <a:xfrm>
            <a:off x="457200" y="1143000"/>
            <a:ext cx="8229600" cy="5562600"/>
          </a:xfrm>
        </p:spPr>
        <p:txBody>
          <a:bodyPr/>
          <a:lstStyle/>
          <a:p>
            <a:pPr marL="0" indent="0">
              <a:buNone/>
            </a:pPr>
            <a:r>
              <a:rPr lang="en-US" sz="2400" b="1" dirty="0">
                <a:latin typeface="Times New Roman" panose="02020603050405020304" pitchFamily="18" charset="0"/>
                <a:cs typeface="Times New Roman" panose="02020603050405020304" pitchFamily="18" charset="0"/>
              </a:rPr>
              <a:t>Deep Learning Model Used</a:t>
            </a:r>
          </a:p>
          <a:p>
            <a:pPr algn="just"/>
            <a:r>
              <a:rPr lang="en-US" sz="2000" dirty="0">
                <a:latin typeface="Times New Roman" panose="02020603050405020304" pitchFamily="18" charset="0"/>
                <a:cs typeface="Times New Roman" panose="02020603050405020304" pitchFamily="18" charset="0"/>
              </a:rPr>
              <a:t>This study employs the </a:t>
            </a:r>
            <a:r>
              <a:rPr lang="en-US" sz="2000" b="1" dirty="0">
                <a:latin typeface="Times New Roman" panose="02020603050405020304" pitchFamily="18" charset="0"/>
                <a:cs typeface="Times New Roman" panose="02020603050405020304" pitchFamily="18" charset="0"/>
              </a:rPr>
              <a:t>Bidirectional Long Short-Term Memory (</a:t>
            </a:r>
            <a:r>
              <a:rPr lang="en-US" sz="2000" b="1" dirty="0" err="1">
                <a:latin typeface="Times New Roman" panose="02020603050405020304" pitchFamily="18" charset="0"/>
                <a:cs typeface="Times New Roman" panose="02020603050405020304" pitchFamily="18" charset="0"/>
              </a:rPr>
              <a:t>BiLSTM</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model, a recurrent neural network (RNN) architecture widely applied in natural language processing tasks such as text classification.</a:t>
            </a:r>
          </a:p>
          <a:p>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Why This Architecture Was Chosen?</a:t>
            </a:r>
          </a:p>
          <a:p>
            <a:pPr algn="just"/>
            <a:r>
              <a:rPr lang="en-US" sz="2000" b="1" dirty="0">
                <a:latin typeface="Times New Roman" panose="02020603050405020304" pitchFamily="18" charset="0"/>
                <a:cs typeface="Times New Roman" panose="02020603050405020304" pitchFamily="18" charset="0"/>
              </a:rPr>
              <a:t>Sequential Understanding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captures long-term dependencies and sequential patterns in text, which are crucial for detecting spam in emails.</a:t>
            </a:r>
          </a:p>
          <a:p>
            <a:pPr algn="just"/>
            <a:r>
              <a:rPr lang="en-US" sz="2000" b="1" dirty="0">
                <a:latin typeface="Times New Roman" panose="02020603050405020304" pitchFamily="18" charset="0"/>
                <a:cs typeface="Times New Roman" panose="02020603050405020304" pitchFamily="18" charset="0"/>
              </a:rPr>
              <a:t>Context Awareness</a:t>
            </a:r>
            <a:r>
              <a:rPr lang="en-US" sz="2000" dirty="0">
                <a:latin typeface="Times New Roman" panose="02020603050405020304" pitchFamily="18" charset="0"/>
                <a:cs typeface="Times New Roman" panose="02020603050405020304" pitchFamily="18" charset="0"/>
              </a:rPr>
              <a:t>: By processing input sequences in both forward and backward directions,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provides a deeper understanding of word semantics within an email.</a:t>
            </a:r>
          </a:p>
          <a:p>
            <a:pPr algn="just"/>
            <a:r>
              <a:rPr lang="en-US" sz="2000" b="1" dirty="0">
                <a:latin typeface="Times New Roman" panose="02020603050405020304" pitchFamily="18" charset="0"/>
                <a:cs typeface="Times New Roman" panose="02020603050405020304" pitchFamily="18" charset="0"/>
              </a:rPr>
              <a:t>Proven Effectiveness</a:t>
            </a:r>
            <a:r>
              <a:rPr lang="en-US" sz="2000" dirty="0">
                <a:latin typeface="Times New Roman" panose="02020603050405020304" pitchFamily="18" charset="0"/>
                <a:cs typeface="Times New Roman" panose="02020603050405020304" pitchFamily="18" charset="0"/>
              </a:rPr>
              <a:t>: RNN-based models, especially LSTMs and GRUs, have consistently demonstrated strong performance in spam detection due to their ability to learn linguistic and contextual patterns that differentiate spam from legitimate messages.</a:t>
            </a:r>
          </a:p>
          <a:p>
            <a:pPr>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805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37FF7A6-6F66-3213-CC1C-3DC41E0A495B}"/>
              </a:ext>
            </a:extLst>
          </p:cNvPr>
          <p:cNvPicPr>
            <a:picLocks noGrp="1" noChangeAspect="1"/>
          </p:cNvPicPr>
          <p:nvPr>
            <p:ph idx="1"/>
          </p:nvPr>
        </p:nvPicPr>
        <p:blipFill>
          <a:blip r:embed="rId2"/>
          <a:stretch>
            <a:fillRect/>
          </a:stretch>
        </p:blipFill>
        <p:spPr>
          <a:xfrm>
            <a:off x="2971800" y="1447800"/>
            <a:ext cx="3276600" cy="4191000"/>
          </a:xfrm>
        </p:spPr>
      </p:pic>
      <p:sp>
        <p:nvSpPr>
          <p:cNvPr id="4" name="Title 1">
            <a:extLst>
              <a:ext uri="{FF2B5EF4-FFF2-40B4-BE49-F238E27FC236}">
                <a16:creationId xmlns:a16="http://schemas.microsoft.com/office/drawing/2014/main" id="{802C360C-544C-3208-BC4D-F3E98D96BECC}"/>
              </a:ext>
            </a:extLst>
          </p:cNvPr>
          <p:cNvSpPr>
            <a:spLocks noGrp="1"/>
          </p:cNvSpPr>
          <p:nvPr>
            <p:ph type="title"/>
          </p:nvPr>
        </p:nvSpPr>
        <p:spPr>
          <a:xfrm>
            <a:off x="0" y="0"/>
            <a:ext cx="6507163" cy="838200"/>
          </a:xfrm>
        </p:spPr>
        <p:txBody>
          <a:bodyPr/>
          <a:lstStyle/>
          <a:p>
            <a:r>
              <a:rPr lang="en-US" sz="4000" b="1" dirty="0">
                <a:latin typeface="Times New Roman" panose="02020603050405020304" pitchFamily="18" charset="0"/>
                <a:cs typeface="Times New Roman" panose="02020603050405020304" pitchFamily="18" charset="0"/>
              </a:rPr>
              <a:t>Model Architecture</a:t>
            </a:r>
          </a:p>
        </p:txBody>
      </p:sp>
    </p:spTree>
    <p:extLst>
      <p:ext uri="{BB962C8B-B14F-4D97-AF65-F5344CB8AC3E}">
        <p14:creationId xmlns:p14="http://schemas.microsoft.com/office/powerpoint/2010/main" val="4257540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4983-EA66-7BD5-CD4E-2E198878F0F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Evaluation</a:t>
            </a:r>
          </a:p>
        </p:txBody>
      </p:sp>
      <p:graphicFrame>
        <p:nvGraphicFramePr>
          <p:cNvPr id="4" name="Content Placeholder 3">
            <a:extLst>
              <a:ext uri="{FF2B5EF4-FFF2-40B4-BE49-F238E27FC236}">
                <a16:creationId xmlns:a16="http://schemas.microsoft.com/office/drawing/2014/main" id="{A42A0433-46AE-90FA-D9D6-C330E38F3E17}"/>
              </a:ext>
            </a:extLst>
          </p:cNvPr>
          <p:cNvGraphicFramePr>
            <a:graphicFrameLocks noGrp="1"/>
          </p:cNvGraphicFramePr>
          <p:nvPr>
            <p:ph idx="1"/>
            <p:extLst>
              <p:ext uri="{D42A27DB-BD31-4B8C-83A1-F6EECF244321}">
                <p14:modId xmlns:p14="http://schemas.microsoft.com/office/powerpoint/2010/main" val="1171524754"/>
              </p:ext>
            </p:extLst>
          </p:nvPr>
        </p:nvGraphicFramePr>
        <p:xfrm>
          <a:off x="685800" y="1162844"/>
          <a:ext cx="8229600" cy="2494755"/>
        </p:xfrm>
        <a:graphic>
          <a:graphicData uri="http://schemas.openxmlformats.org/drawingml/2006/table">
            <a:tbl>
              <a:tblPr/>
              <a:tblGrid>
                <a:gridCol w="1645920">
                  <a:extLst>
                    <a:ext uri="{9D8B030D-6E8A-4147-A177-3AD203B41FA5}">
                      <a16:colId xmlns:a16="http://schemas.microsoft.com/office/drawing/2014/main" val="2332849052"/>
                    </a:ext>
                  </a:extLst>
                </a:gridCol>
                <a:gridCol w="1645920">
                  <a:extLst>
                    <a:ext uri="{9D8B030D-6E8A-4147-A177-3AD203B41FA5}">
                      <a16:colId xmlns:a16="http://schemas.microsoft.com/office/drawing/2014/main" val="1484716088"/>
                    </a:ext>
                  </a:extLst>
                </a:gridCol>
                <a:gridCol w="1645920">
                  <a:extLst>
                    <a:ext uri="{9D8B030D-6E8A-4147-A177-3AD203B41FA5}">
                      <a16:colId xmlns:a16="http://schemas.microsoft.com/office/drawing/2014/main" val="4236165768"/>
                    </a:ext>
                  </a:extLst>
                </a:gridCol>
                <a:gridCol w="1645920">
                  <a:extLst>
                    <a:ext uri="{9D8B030D-6E8A-4147-A177-3AD203B41FA5}">
                      <a16:colId xmlns:a16="http://schemas.microsoft.com/office/drawing/2014/main" val="2305109708"/>
                    </a:ext>
                  </a:extLst>
                </a:gridCol>
                <a:gridCol w="1645920">
                  <a:extLst>
                    <a:ext uri="{9D8B030D-6E8A-4147-A177-3AD203B41FA5}">
                      <a16:colId xmlns:a16="http://schemas.microsoft.com/office/drawing/2014/main" val="1438215487"/>
                    </a:ext>
                  </a:extLst>
                </a:gridCol>
              </a:tblGrid>
              <a:tr h="498951">
                <a:tc>
                  <a:txBody>
                    <a:bodyPr/>
                    <a:lstStyle/>
                    <a:p>
                      <a:pPr>
                        <a:buNone/>
                      </a:pPr>
                      <a:r>
                        <a:rPr lang="en-IN" dirty="0"/>
                        <a:t>Dataset</a:t>
                      </a:r>
                    </a:p>
                  </a:txBody>
                  <a:tcPr anchor="ctr">
                    <a:lnL>
                      <a:noFill/>
                    </a:lnL>
                    <a:lnR>
                      <a:noFill/>
                    </a:lnR>
                    <a:lnT>
                      <a:noFill/>
                    </a:lnT>
                    <a:lnB>
                      <a:noFill/>
                    </a:lnB>
                    <a:noFill/>
                  </a:tcPr>
                </a:tc>
                <a:tc>
                  <a:txBody>
                    <a:bodyPr/>
                    <a:lstStyle/>
                    <a:p>
                      <a:pPr>
                        <a:buNone/>
                      </a:pPr>
                      <a:r>
                        <a:rPr lang="en-IN"/>
                        <a:t>Loss</a:t>
                      </a:r>
                    </a:p>
                  </a:txBody>
                  <a:tcPr anchor="ctr">
                    <a:lnL>
                      <a:noFill/>
                    </a:lnL>
                    <a:lnR>
                      <a:noFill/>
                    </a:lnR>
                    <a:lnT>
                      <a:noFill/>
                    </a:lnT>
                    <a:lnB>
                      <a:noFill/>
                    </a:lnB>
                    <a:noFill/>
                  </a:tcPr>
                </a:tc>
                <a:tc>
                  <a:txBody>
                    <a:bodyPr/>
                    <a:lstStyle/>
                    <a:p>
                      <a:pPr>
                        <a:buNone/>
                      </a:pPr>
                      <a:r>
                        <a:rPr lang="en-IN"/>
                        <a:t>Accuracy (%)</a:t>
                      </a:r>
                    </a:p>
                  </a:txBody>
                  <a:tcPr anchor="ctr">
                    <a:lnL>
                      <a:noFill/>
                    </a:lnL>
                    <a:lnR>
                      <a:noFill/>
                    </a:lnR>
                    <a:lnT>
                      <a:noFill/>
                    </a:lnT>
                    <a:lnB>
                      <a:noFill/>
                    </a:lnB>
                    <a:noFill/>
                  </a:tcPr>
                </a:tc>
                <a:tc>
                  <a:txBody>
                    <a:bodyPr/>
                    <a:lstStyle/>
                    <a:p>
                      <a:pPr>
                        <a:buNone/>
                      </a:pPr>
                      <a:r>
                        <a:rPr lang="en-IN"/>
                        <a:t>Precision (%)</a:t>
                      </a:r>
                    </a:p>
                  </a:txBody>
                  <a:tcPr anchor="ctr">
                    <a:lnL>
                      <a:noFill/>
                    </a:lnL>
                    <a:lnR>
                      <a:noFill/>
                    </a:lnR>
                    <a:lnT>
                      <a:noFill/>
                    </a:lnT>
                    <a:lnB>
                      <a:noFill/>
                    </a:lnB>
                    <a:noFill/>
                  </a:tcPr>
                </a:tc>
                <a:tc>
                  <a:txBody>
                    <a:bodyPr/>
                    <a:lstStyle/>
                    <a:p>
                      <a:pPr>
                        <a:buNone/>
                      </a:pPr>
                      <a:r>
                        <a:rPr lang="en-IN"/>
                        <a:t>AUC (%)</a:t>
                      </a:r>
                    </a:p>
                  </a:txBody>
                  <a:tcPr anchor="ctr">
                    <a:lnL>
                      <a:noFill/>
                    </a:lnL>
                    <a:lnR>
                      <a:noFill/>
                    </a:lnR>
                    <a:lnT>
                      <a:noFill/>
                    </a:lnT>
                    <a:lnB>
                      <a:noFill/>
                    </a:lnB>
                    <a:noFill/>
                  </a:tcPr>
                </a:tc>
                <a:extLst>
                  <a:ext uri="{0D108BD9-81ED-4DB2-BD59-A6C34878D82A}">
                    <a16:rowId xmlns:a16="http://schemas.microsoft.com/office/drawing/2014/main" val="215568425"/>
                  </a:ext>
                </a:extLst>
              </a:tr>
              <a:tr h="498951">
                <a:tc>
                  <a:txBody>
                    <a:bodyPr/>
                    <a:lstStyle/>
                    <a:p>
                      <a:pPr>
                        <a:buNone/>
                      </a:pPr>
                      <a:r>
                        <a:rPr lang="en-IN" dirty="0"/>
                        <a:t>Training</a:t>
                      </a:r>
                    </a:p>
                  </a:txBody>
                  <a:tcPr anchor="ctr">
                    <a:lnL>
                      <a:noFill/>
                    </a:lnL>
                    <a:lnR>
                      <a:noFill/>
                    </a:lnR>
                    <a:lnT>
                      <a:noFill/>
                    </a:lnT>
                    <a:lnB>
                      <a:noFill/>
                    </a:lnB>
                    <a:noFill/>
                  </a:tcPr>
                </a:tc>
                <a:tc>
                  <a:txBody>
                    <a:bodyPr/>
                    <a:lstStyle/>
                    <a:p>
                      <a:pPr>
                        <a:buNone/>
                      </a:pPr>
                      <a:r>
                        <a:rPr lang="en-IN"/>
                        <a:t>26.36</a:t>
                      </a:r>
                    </a:p>
                  </a:txBody>
                  <a:tcPr anchor="ctr">
                    <a:lnL>
                      <a:noFill/>
                    </a:lnL>
                    <a:lnR>
                      <a:noFill/>
                    </a:lnR>
                    <a:lnT>
                      <a:noFill/>
                    </a:lnT>
                    <a:lnB>
                      <a:noFill/>
                    </a:lnB>
                    <a:noFill/>
                  </a:tcPr>
                </a:tc>
                <a:tc>
                  <a:txBody>
                    <a:bodyPr/>
                    <a:lstStyle/>
                    <a:p>
                      <a:pPr>
                        <a:buNone/>
                      </a:pPr>
                      <a:r>
                        <a:rPr lang="en-IN"/>
                        <a:t>98.87</a:t>
                      </a:r>
                    </a:p>
                  </a:txBody>
                  <a:tcPr anchor="ctr">
                    <a:lnL>
                      <a:noFill/>
                    </a:lnL>
                    <a:lnR>
                      <a:noFill/>
                    </a:lnR>
                    <a:lnT>
                      <a:noFill/>
                    </a:lnT>
                    <a:lnB>
                      <a:noFill/>
                    </a:lnB>
                    <a:noFill/>
                  </a:tcPr>
                </a:tc>
                <a:tc>
                  <a:txBody>
                    <a:bodyPr/>
                    <a:lstStyle/>
                    <a:p>
                      <a:pPr>
                        <a:buNone/>
                      </a:pPr>
                      <a:r>
                        <a:rPr lang="en-IN"/>
                        <a:t>99.09</a:t>
                      </a:r>
                    </a:p>
                  </a:txBody>
                  <a:tcPr anchor="ctr">
                    <a:lnL>
                      <a:noFill/>
                    </a:lnL>
                    <a:lnR>
                      <a:noFill/>
                    </a:lnR>
                    <a:lnT>
                      <a:noFill/>
                    </a:lnT>
                    <a:lnB>
                      <a:noFill/>
                    </a:lnB>
                    <a:noFill/>
                  </a:tcPr>
                </a:tc>
                <a:tc>
                  <a:txBody>
                    <a:bodyPr/>
                    <a:lstStyle/>
                    <a:p>
                      <a:pPr>
                        <a:buNone/>
                      </a:pPr>
                      <a:r>
                        <a:rPr lang="en-IN"/>
                        <a:t>99.93</a:t>
                      </a:r>
                    </a:p>
                  </a:txBody>
                  <a:tcPr anchor="ctr">
                    <a:lnL>
                      <a:noFill/>
                    </a:lnL>
                    <a:lnR>
                      <a:noFill/>
                    </a:lnR>
                    <a:lnT>
                      <a:noFill/>
                    </a:lnT>
                    <a:lnB>
                      <a:noFill/>
                    </a:lnB>
                    <a:noFill/>
                  </a:tcPr>
                </a:tc>
                <a:extLst>
                  <a:ext uri="{0D108BD9-81ED-4DB2-BD59-A6C34878D82A}">
                    <a16:rowId xmlns:a16="http://schemas.microsoft.com/office/drawing/2014/main" val="1515682311"/>
                  </a:ext>
                </a:extLst>
              </a:tr>
              <a:tr h="498951">
                <a:tc>
                  <a:txBody>
                    <a:bodyPr/>
                    <a:lstStyle/>
                    <a:p>
                      <a:pPr>
                        <a:buNone/>
                      </a:pPr>
                      <a:r>
                        <a:rPr lang="en-IN"/>
                        <a:t>Testing</a:t>
                      </a:r>
                    </a:p>
                  </a:txBody>
                  <a:tcPr anchor="ctr">
                    <a:lnL>
                      <a:noFill/>
                    </a:lnL>
                    <a:lnR>
                      <a:noFill/>
                    </a:lnR>
                    <a:lnT>
                      <a:noFill/>
                    </a:lnT>
                    <a:lnB>
                      <a:noFill/>
                    </a:lnB>
                    <a:noFill/>
                  </a:tcPr>
                </a:tc>
                <a:tc>
                  <a:txBody>
                    <a:bodyPr/>
                    <a:lstStyle/>
                    <a:p>
                      <a:pPr>
                        <a:buNone/>
                      </a:pPr>
                      <a:r>
                        <a:rPr lang="en-IN"/>
                        <a:t>36.04</a:t>
                      </a:r>
                    </a:p>
                  </a:txBody>
                  <a:tcPr anchor="ctr">
                    <a:lnL>
                      <a:noFill/>
                    </a:lnL>
                    <a:lnR>
                      <a:noFill/>
                    </a:lnR>
                    <a:lnT>
                      <a:noFill/>
                    </a:lnT>
                    <a:lnB>
                      <a:noFill/>
                    </a:lnB>
                    <a:noFill/>
                  </a:tcPr>
                </a:tc>
                <a:tc>
                  <a:txBody>
                    <a:bodyPr/>
                    <a:lstStyle/>
                    <a:p>
                      <a:pPr>
                        <a:buNone/>
                      </a:pPr>
                      <a:r>
                        <a:rPr lang="en-IN"/>
                        <a:t>91.30</a:t>
                      </a:r>
                    </a:p>
                  </a:txBody>
                  <a:tcPr anchor="ctr">
                    <a:lnL>
                      <a:noFill/>
                    </a:lnL>
                    <a:lnR>
                      <a:noFill/>
                    </a:lnR>
                    <a:lnT>
                      <a:noFill/>
                    </a:lnT>
                    <a:lnB>
                      <a:noFill/>
                    </a:lnB>
                    <a:noFill/>
                  </a:tcPr>
                </a:tc>
                <a:tc>
                  <a:txBody>
                    <a:bodyPr/>
                    <a:lstStyle/>
                    <a:p>
                      <a:pPr>
                        <a:buNone/>
                      </a:pPr>
                      <a:r>
                        <a:rPr lang="en-IN"/>
                        <a:t>94.39</a:t>
                      </a:r>
                    </a:p>
                  </a:txBody>
                  <a:tcPr anchor="ctr">
                    <a:lnL>
                      <a:noFill/>
                    </a:lnL>
                    <a:lnR>
                      <a:noFill/>
                    </a:lnR>
                    <a:lnT>
                      <a:noFill/>
                    </a:lnT>
                    <a:lnB>
                      <a:noFill/>
                    </a:lnB>
                    <a:noFill/>
                  </a:tcPr>
                </a:tc>
                <a:tc>
                  <a:txBody>
                    <a:bodyPr/>
                    <a:lstStyle/>
                    <a:p>
                      <a:pPr>
                        <a:buNone/>
                      </a:pPr>
                      <a:r>
                        <a:rPr lang="en-IN" dirty="0"/>
                        <a:t>98.01</a:t>
                      </a:r>
                    </a:p>
                  </a:txBody>
                  <a:tcPr anchor="ctr">
                    <a:lnL>
                      <a:noFill/>
                    </a:lnL>
                    <a:lnR>
                      <a:noFill/>
                    </a:lnR>
                    <a:lnT>
                      <a:noFill/>
                    </a:lnT>
                    <a:lnB>
                      <a:noFill/>
                    </a:lnB>
                    <a:noFill/>
                  </a:tcPr>
                </a:tc>
                <a:extLst>
                  <a:ext uri="{0D108BD9-81ED-4DB2-BD59-A6C34878D82A}">
                    <a16:rowId xmlns:a16="http://schemas.microsoft.com/office/drawing/2014/main" val="2473389406"/>
                  </a:ext>
                </a:extLst>
              </a:tr>
              <a:tr h="498951">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1980249900"/>
                  </a:ext>
                </a:extLst>
              </a:tr>
              <a:tr h="498951">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3081112794"/>
                  </a:ext>
                </a:extLst>
              </a:tr>
            </a:tbl>
          </a:graphicData>
        </a:graphic>
      </p:graphicFrame>
      <p:sp>
        <p:nvSpPr>
          <p:cNvPr id="8" name="Content Placeholder 2">
            <a:extLst>
              <a:ext uri="{FF2B5EF4-FFF2-40B4-BE49-F238E27FC236}">
                <a16:creationId xmlns:a16="http://schemas.microsoft.com/office/drawing/2014/main" id="{652BBE6A-4779-A515-4DBE-EC9CE7DB2B64}"/>
              </a:ext>
            </a:extLst>
          </p:cNvPr>
          <p:cNvSpPr txBox="1">
            <a:spLocks/>
          </p:cNvSpPr>
          <p:nvPr/>
        </p:nvSpPr>
        <p:spPr bwMode="auto">
          <a:xfrm>
            <a:off x="457200" y="2982180"/>
            <a:ext cx="8229600" cy="34948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latin typeface="Times New Roman" panose="02020603050405020304" pitchFamily="18" charset="0"/>
                <a:cs typeface="Times New Roman" panose="02020603050405020304" pitchFamily="18" charset="0"/>
              </a:rPr>
              <a:t>Training Performance:</a:t>
            </a:r>
            <a:endParaRPr lang="en-US" sz="800" b="1" dirty="0">
              <a:latin typeface="Times New Roman" panose="02020603050405020304" pitchFamily="18" charset="0"/>
              <a:cs typeface="Times New Roman" panose="02020603050405020304" pitchFamily="18" charset="0"/>
            </a:endParaRPr>
          </a:p>
          <a:p>
            <a:pPr marL="0" indent="0">
              <a:buNone/>
            </a:pPr>
            <a:endParaRPr lang="en-US" sz="800" b="1"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model shows excellent performance on the training data, achieving a very high accuracy (</a:t>
            </a:r>
            <a:r>
              <a:rPr lang="en-US" sz="1800" b="1" dirty="0">
                <a:latin typeface="Times New Roman" panose="02020603050405020304" pitchFamily="18" charset="0"/>
                <a:cs typeface="Times New Roman" panose="02020603050405020304" pitchFamily="18" charset="0"/>
              </a:rPr>
              <a:t>98.87%</a:t>
            </a:r>
            <a:r>
              <a:rPr lang="en-US" sz="1800" dirty="0">
                <a:latin typeface="Times New Roman" panose="02020603050405020304" pitchFamily="18" charset="0"/>
                <a:cs typeface="Times New Roman" panose="02020603050405020304" pitchFamily="18" charset="0"/>
              </a:rPr>
              <a:t>) and precision (</a:t>
            </a:r>
            <a:r>
              <a:rPr lang="en-US" sz="1800" b="1" dirty="0">
                <a:latin typeface="Times New Roman" panose="02020603050405020304" pitchFamily="18" charset="0"/>
                <a:cs typeface="Times New Roman" panose="02020603050405020304" pitchFamily="18" charset="0"/>
              </a:rPr>
              <a:t>99.09%</a:t>
            </a:r>
            <a:r>
              <a:rPr lang="en-US" sz="1800" dirty="0">
                <a:latin typeface="Times New Roman" panose="02020603050405020304" pitchFamily="18" charset="0"/>
                <a:cs typeface="Times New Roman" panose="02020603050405020304" pitchFamily="18" charset="0"/>
              </a:rPr>
              <a:t>), with an AUC (</a:t>
            </a:r>
            <a:r>
              <a:rPr lang="en-US" sz="1800" b="1" dirty="0">
                <a:latin typeface="Times New Roman" panose="02020603050405020304" pitchFamily="18" charset="0"/>
                <a:cs typeface="Times New Roman" panose="02020603050405020304" pitchFamily="18" charset="0"/>
              </a:rPr>
              <a:t>99.93%</a:t>
            </a:r>
            <a:r>
              <a:rPr lang="en-US" sz="1800" dirty="0">
                <a:latin typeface="Times New Roman" panose="02020603050405020304" pitchFamily="18" charset="0"/>
                <a:cs typeface="Times New Roman" panose="02020603050405020304" pitchFamily="18" charset="0"/>
              </a:rPr>
              <a:t>). A low loss value (</a:t>
            </a:r>
            <a:r>
              <a:rPr lang="en-US" sz="1800" b="1" dirty="0">
                <a:latin typeface="Times New Roman" panose="02020603050405020304" pitchFamily="18" charset="0"/>
                <a:cs typeface="Times New Roman" panose="02020603050405020304" pitchFamily="18" charset="0"/>
              </a:rPr>
              <a:t>26.36</a:t>
            </a:r>
            <a:r>
              <a:rPr lang="en-US" sz="1800" dirty="0">
                <a:latin typeface="Times New Roman" panose="02020603050405020304" pitchFamily="18" charset="0"/>
                <a:cs typeface="Times New Roman" panose="02020603050405020304" pitchFamily="18" charset="0"/>
              </a:rPr>
              <a:t>) indicates that the model fits the training data well.</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Testing Performance:</a:t>
            </a:r>
            <a:endParaRPr lang="en-US" sz="800" b="1" dirty="0">
              <a:latin typeface="Times New Roman" panose="02020603050405020304" pitchFamily="18" charset="0"/>
              <a:cs typeface="Times New Roman" panose="02020603050405020304" pitchFamily="18" charset="0"/>
            </a:endParaRPr>
          </a:p>
          <a:p>
            <a:pPr marL="0" indent="0" algn="just">
              <a:buNone/>
            </a:pPr>
            <a:r>
              <a:rPr lang="en-US" sz="800" b="1"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On the unseen test data, the model achieves strong accuracy (</a:t>
            </a:r>
            <a:r>
              <a:rPr lang="en-US" sz="1800" b="1" dirty="0">
                <a:latin typeface="Times New Roman" panose="02020603050405020304" pitchFamily="18" charset="0"/>
                <a:cs typeface="Times New Roman" panose="02020603050405020304" pitchFamily="18" charset="0"/>
              </a:rPr>
              <a:t>91.30%</a:t>
            </a:r>
            <a:r>
              <a:rPr lang="en-US" sz="1800" dirty="0">
                <a:latin typeface="Times New Roman" panose="02020603050405020304" pitchFamily="18" charset="0"/>
                <a:cs typeface="Times New Roman" panose="02020603050405020304" pitchFamily="18" charset="0"/>
              </a:rPr>
              <a:t>) and high precision (</a:t>
            </a:r>
            <a:r>
              <a:rPr lang="en-US" sz="1800" b="1" dirty="0">
                <a:latin typeface="Times New Roman" panose="02020603050405020304" pitchFamily="18" charset="0"/>
                <a:cs typeface="Times New Roman" panose="02020603050405020304" pitchFamily="18" charset="0"/>
              </a:rPr>
              <a:t>94.39%</a:t>
            </a:r>
            <a:r>
              <a:rPr lang="en-US" sz="1800" dirty="0">
                <a:latin typeface="Times New Roman" panose="02020603050405020304" pitchFamily="18" charset="0"/>
                <a:cs typeface="Times New Roman" panose="02020603050405020304" pitchFamily="18" charset="0"/>
              </a:rPr>
              <a:t>), with an AUC (</a:t>
            </a:r>
            <a:r>
              <a:rPr lang="en-US" sz="1800" b="1" dirty="0">
                <a:latin typeface="Times New Roman" panose="02020603050405020304" pitchFamily="18" charset="0"/>
                <a:cs typeface="Times New Roman" panose="02020603050405020304" pitchFamily="18" charset="0"/>
              </a:rPr>
              <a:t>98.01%</a:t>
            </a:r>
            <a:r>
              <a:rPr lang="en-US" sz="1800" dirty="0">
                <a:latin typeface="Times New Roman" panose="02020603050405020304" pitchFamily="18" charset="0"/>
                <a:cs typeface="Times New Roman" panose="02020603050405020304" pitchFamily="18" charset="0"/>
              </a:rPr>
              <a:t>). Although the test loss (</a:t>
            </a:r>
            <a:r>
              <a:rPr lang="en-US" sz="1800" b="1" dirty="0">
                <a:latin typeface="Times New Roman" panose="02020603050405020304" pitchFamily="18" charset="0"/>
                <a:cs typeface="Times New Roman" panose="02020603050405020304" pitchFamily="18" charset="0"/>
              </a:rPr>
              <a:t>36.04</a:t>
            </a:r>
            <a:r>
              <a:rPr lang="en-US" sz="1800" dirty="0">
                <a:latin typeface="Times New Roman" panose="02020603050405020304" pitchFamily="18" charset="0"/>
                <a:cs typeface="Times New Roman" panose="02020603050405020304" pitchFamily="18" charset="0"/>
              </a:rPr>
              <a:t>) is slightly higher than the training loss, the performance remains robust, suggesting minimal overfitting.</a:t>
            </a:r>
          </a:p>
          <a:p>
            <a:pPr>
              <a:buFont typeface="Arial" pitchFamily="34" charset="0"/>
              <a:buNone/>
            </a:pPr>
            <a:endParaRPr lang="en-US"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05294E5-CD56-E0A5-B9D4-3F313C1B632B}"/>
              </a:ext>
            </a:extLst>
          </p:cNvPr>
          <p:cNvGraphicFramePr>
            <a:graphicFrameLocks noGrp="1"/>
          </p:cNvGraphicFramePr>
          <p:nvPr>
            <p:extLst>
              <p:ext uri="{D42A27DB-BD31-4B8C-83A1-F6EECF244321}">
                <p14:modId xmlns:p14="http://schemas.microsoft.com/office/powerpoint/2010/main" val="3466329586"/>
              </p:ext>
            </p:extLst>
          </p:nvPr>
        </p:nvGraphicFramePr>
        <p:xfrm>
          <a:off x="580292" y="1171636"/>
          <a:ext cx="8077200" cy="1447800"/>
        </p:xfrm>
        <a:graphic>
          <a:graphicData uri="http://schemas.openxmlformats.org/drawingml/2006/table">
            <a:tbl>
              <a:tblPr firstRow="1" bandRow="1">
                <a:tableStyleId>{5940675A-B579-460E-94D1-54222C63F5DA}</a:tableStyleId>
              </a:tblPr>
              <a:tblGrid>
                <a:gridCol w="1493520">
                  <a:extLst>
                    <a:ext uri="{9D8B030D-6E8A-4147-A177-3AD203B41FA5}">
                      <a16:colId xmlns:a16="http://schemas.microsoft.com/office/drawing/2014/main" val="2593139143"/>
                    </a:ext>
                  </a:extLst>
                </a:gridCol>
                <a:gridCol w="1645920">
                  <a:extLst>
                    <a:ext uri="{9D8B030D-6E8A-4147-A177-3AD203B41FA5}">
                      <a16:colId xmlns:a16="http://schemas.microsoft.com/office/drawing/2014/main" val="2722285527"/>
                    </a:ext>
                  </a:extLst>
                </a:gridCol>
                <a:gridCol w="1645920">
                  <a:extLst>
                    <a:ext uri="{9D8B030D-6E8A-4147-A177-3AD203B41FA5}">
                      <a16:colId xmlns:a16="http://schemas.microsoft.com/office/drawing/2014/main" val="1261795054"/>
                    </a:ext>
                  </a:extLst>
                </a:gridCol>
                <a:gridCol w="1645920">
                  <a:extLst>
                    <a:ext uri="{9D8B030D-6E8A-4147-A177-3AD203B41FA5}">
                      <a16:colId xmlns:a16="http://schemas.microsoft.com/office/drawing/2014/main" val="1967530012"/>
                    </a:ext>
                  </a:extLst>
                </a:gridCol>
                <a:gridCol w="1645920">
                  <a:extLst>
                    <a:ext uri="{9D8B030D-6E8A-4147-A177-3AD203B41FA5}">
                      <a16:colId xmlns:a16="http://schemas.microsoft.com/office/drawing/2014/main" val="1777532198"/>
                    </a:ext>
                  </a:extLst>
                </a:gridCol>
              </a:tblGrid>
              <a:tr h="482600">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27979118"/>
                  </a:ext>
                </a:extLst>
              </a:tr>
              <a:tr h="482600">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648543688"/>
                  </a:ext>
                </a:extLst>
              </a:tr>
              <a:tr h="482600">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357535365"/>
                  </a:ext>
                </a:extLst>
              </a:tr>
            </a:tbl>
          </a:graphicData>
        </a:graphic>
      </p:graphicFrame>
    </p:spTree>
    <p:extLst>
      <p:ext uri="{BB962C8B-B14F-4D97-AF65-F5344CB8AC3E}">
        <p14:creationId xmlns:p14="http://schemas.microsoft.com/office/powerpoint/2010/main" val="799399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EEA1-DEC0-18BD-14E3-D4D057828985}"/>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Evaluation</a:t>
            </a:r>
          </a:p>
        </p:txBody>
      </p:sp>
      <p:pic>
        <p:nvPicPr>
          <p:cNvPr id="1030" name="Picture 6">
            <a:extLst>
              <a:ext uri="{FF2B5EF4-FFF2-40B4-BE49-F238E27FC236}">
                <a16:creationId xmlns:a16="http://schemas.microsoft.com/office/drawing/2014/main" id="{E1A574F9-88CE-F8DA-7DCA-16CB2BA694D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6173" y="1981200"/>
            <a:ext cx="9031654"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57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E82C7-6E58-F6D6-8997-78919EC6F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0D05A-5879-B5C0-C307-3E19EF8DA6E1}"/>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Architecture</a:t>
            </a:r>
          </a:p>
        </p:txBody>
      </p:sp>
      <p:sp>
        <p:nvSpPr>
          <p:cNvPr id="4" name="Rectangle 1">
            <a:extLst>
              <a:ext uri="{FF2B5EF4-FFF2-40B4-BE49-F238E27FC236}">
                <a16:creationId xmlns:a16="http://schemas.microsoft.com/office/drawing/2014/main" id="{73CC6BE8-05A2-F5E0-BC6D-4087299D1EF4}"/>
              </a:ext>
            </a:extLst>
          </p:cNvPr>
          <p:cNvSpPr>
            <a:spLocks noGrp="1" noChangeArrowheads="1"/>
          </p:cNvSpPr>
          <p:nvPr>
            <p:ph idx="1"/>
          </p:nvPr>
        </p:nvSpPr>
        <p:spPr bwMode="auto">
          <a:xfrm>
            <a:off x="228599" y="2096327"/>
            <a:ext cx="8686801" cy="2665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Times New Roman" panose="02020603050405020304" pitchFamily="18" charset="0"/>
                <a:cs typeface="Times New Roman" panose="02020603050405020304" pitchFamily="18" charset="0"/>
              </a:rPr>
              <a:t>Model Performance Summary</a:t>
            </a:r>
          </a:p>
          <a:p>
            <a:pPr marL="0" indent="0">
              <a:buNone/>
            </a:pPr>
            <a:endParaRPr lang="en-US"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High classification accuracy on both training (~99.4%) and testing (~99.3%).</a:t>
            </a:r>
          </a:p>
          <a:p>
            <a:pPr algn="just"/>
            <a:r>
              <a:rPr lang="en-US" sz="1600" dirty="0">
                <a:latin typeface="Times New Roman" panose="02020603050405020304" pitchFamily="18" charset="0"/>
                <a:cs typeface="Times New Roman" panose="02020603050405020304" pitchFamily="18" charset="0"/>
              </a:rPr>
              <a:t>Ham (legitimate messages) were classified with very few errors: only 3 misclassified in training and 4 in testing.</a:t>
            </a:r>
          </a:p>
          <a:p>
            <a:pPr algn="just"/>
            <a:r>
              <a:rPr lang="en-US" sz="1600" dirty="0">
                <a:latin typeface="Times New Roman" panose="02020603050405020304" pitchFamily="18" charset="0"/>
                <a:cs typeface="Times New Roman" panose="02020603050405020304" pitchFamily="18" charset="0"/>
              </a:rPr>
              <a:t>Spam messages were also classified with high accuracy: 18 misclassified in training and only 4 in testing.</a:t>
            </a:r>
          </a:p>
          <a:p>
            <a:pPr algn="just"/>
            <a:r>
              <a:rPr lang="en-US" sz="1600" dirty="0">
                <a:latin typeface="Times New Roman" panose="02020603050405020304" pitchFamily="18" charset="0"/>
                <a:cs typeface="Times New Roman" panose="02020603050405020304" pitchFamily="18" charset="0"/>
              </a:rPr>
              <a:t>The model shows excellent generalization with nearly identical train and test results.</a:t>
            </a:r>
          </a:p>
          <a:p>
            <a:pPr algn="just"/>
            <a:r>
              <a:rPr lang="en-US" sz="1600" dirty="0">
                <a:latin typeface="Times New Roman" panose="02020603050405020304" pitchFamily="18" charset="0"/>
                <a:cs typeface="Times New Roman" panose="02020603050405020304" pitchFamily="18" charset="0"/>
              </a:rPr>
              <a:t>Minimal false positives and false negatives ensure strong reliability for real-world spam detection.</a:t>
            </a:r>
          </a:p>
        </p:txBody>
      </p:sp>
    </p:spTree>
    <p:extLst>
      <p:ext uri="{BB962C8B-B14F-4D97-AF65-F5344CB8AC3E}">
        <p14:creationId xmlns:p14="http://schemas.microsoft.com/office/powerpoint/2010/main" val="178949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99DC-8082-6246-04B0-13CA47066250}"/>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83E61A90-A797-745E-6045-8E3B13D3EF65}"/>
              </a:ext>
            </a:extLst>
          </p:cNvPr>
          <p:cNvSpPr>
            <a:spLocks noGrp="1"/>
          </p:cNvSpPr>
          <p:nvPr>
            <p:ph idx="1"/>
          </p:nvPr>
        </p:nvSpPr>
        <p:spPr/>
        <p:txBody>
          <a:bodyPr/>
          <a:lstStyle/>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This research developed an email spam detection system using the Multinomial Naïve Bayes classifier. The model achieved over 98% accuracy with strong precision, recall, F1-score, and ROC-AUC performance. The system effectively classified spam and ham emails with low computational cost. The study also concludes that deep learning models may further improve performance in future work.</a:t>
            </a:r>
          </a:p>
        </p:txBody>
      </p:sp>
    </p:spTree>
    <p:extLst>
      <p:ext uri="{BB962C8B-B14F-4D97-AF65-F5344CB8AC3E}">
        <p14:creationId xmlns:p14="http://schemas.microsoft.com/office/powerpoint/2010/main" val="7216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2B35-F619-A6C4-D183-0905E3C84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DD44-8165-80F9-FC40-5F12B7DB6C7A}"/>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8B172C5-9053-2A04-F2AC-F10C8CBF3B56}"/>
              </a:ext>
            </a:extLst>
          </p:cNvPr>
          <p:cNvSpPr>
            <a:spLocks noGrp="1"/>
          </p:cNvSpPr>
          <p:nvPr>
            <p:ph idx="1"/>
          </p:nvPr>
        </p:nvSpPr>
        <p:spPr/>
        <p:txBody>
          <a:bodyPr/>
          <a:lstStyle/>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lgn="ctr">
              <a:buNone/>
            </a:pPr>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59194150"/>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AE925D5-DA43-4DD1-B6B6-8B467D16728C}" vid="{3EE72552-1DD1-4F59-AD60-F0ECC5712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2003</TotalTime>
  <Words>871</Words>
  <Application>Microsoft Office PowerPoint</Application>
  <PresentationFormat>On-screen Show (4:3)</PresentationFormat>
  <Paragraphs>109</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Theme1</vt:lpstr>
      <vt:lpstr>PowerPoint Presentation</vt:lpstr>
      <vt:lpstr>Introduction</vt:lpstr>
      <vt:lpstr>Objectives</vt:lpstr>
      <vt:lpstr>Dataset Used</vt:lpstr>
      <vt:lpstr>Mid –term progress</vt:lpstr>
      <vt:lpstr>Model Architecture</vt:lpstr>
      <vt:lpstr>Model Architecture</vt:lpstr>
      <vt:lpstr>Model Evaluation</vt:lpstr>
      <vt:lpstr>Model Evaluation</vt:lpstr>
      <vt:lpstr>Model Architecture</vt:lpstr>
      <vt:lpstr>Conclusion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Abhishek Verma</cp:lastModifiedBy>
  <cp:revision>215</cp:revision>
  <dcterms:created xsi:type="dcterms:W3CDTF">2024-07-10T18:26:37Z</dcterms:created>
  <dcterms:modified xsi:type="dcterms:W3CDTF">2026-05-08T09:17:39Z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ies>
</file>